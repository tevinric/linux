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ULTRASOUND  ·  CLINICAL USE CASES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46720" y="2560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0973"/>
          </a:xfrm>
          <a:prstGeom prst="rect">
            <a:avLst/>
          </a:prstGeom>
          <a:solidFill>
            <a:srgbClr val="D9E2E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498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machine. Many revenue lines.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Pregnancy monitoring is the entry point — but the same asset serves eight clinical categories, broadening the practice's case for purchase.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950208" y="2542032"/>
            <a:ext cx="1243584" cy="1243584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114800" y="2706624"/>
            <a:ext cx="914400" cy="914400"/>
          </a:xfrm>
          <a:prstGeom prst="ellipse">
            <a:avLst/>
          </a:prstGeom>
          <a:solidFill>
            <a:srgbClr val="0F2044"/>
          </a:solidFill>
          <a:ln/>
        </p:spPr>
      </p:sp>
      <p:pic>
        <p:nvPicPr>
          <p:cNvPr id="9" name="Image 0" descr="/home/claude/icons/png/ultrasoun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0248" y="2862072"/>
            <a:ext cx="603504" cy="6035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0" y="36484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0" kern="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ULTRASOUND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377440" y="1956816"/>
            <a:ext cx="1793954" cy="986675"/>
          </a:xfrm>
          <a:prstGeom prst="line">
            <a:avLst/>
          </a:prstGeom>
          <a:noFill/>
          <a:ln w="15240">
            <a:solidFill>
              <a:srgbClr val="CADCF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1600200"/>
            <a:ext cx="1920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12700" dir="5400000">
              <a:srgbClr val="0F2044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1600200"/>
            <a:ext cx="54864" cy="713232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4" name="Image 1" descr="/home/claude/icons/png/he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783080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51560" y="1655064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051560" y="1892808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I50.x  ·  I31.3  ·  I71.3–4  ·  I80.x  ·  R57.9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2377440" y="2761488"/>
            <a:ext cx="1744855" cy="319890"/>
          </a:xfrm>
          <a:prstGeom prst="line">
            <a:avLst/>
          </a:prstGeom>
          <a:noFill/>
          <a:ln w="15240">
            <a:solidFill>
              <a:srgbClr val="CADCF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57200" y="2404872"/>
            <a:ext cx="1920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12700" dir="5400000">
              <a:srgbClr val="0F2044">
                <a:alpha val="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" y="2404872"/>
            <a:ext cx="54864" cy="713232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20" name="Image 2" descr="/home/claude/icons/png/lun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587752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51560" y="2459736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RESPIRATORY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051560" y="2697480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J90  ·  J18.x  ·  J93.9  ·  J81.0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 flipH="1">
            <a:off x="2377440" y="3246270"/>
            <a:ext cx="1744855" cy="319890"/>
          </a:xfrm>
          <a:prstGeom prst="line">
            <a:avLst/>
          </a:prstGeom>
          <a:noFill/>
          <a:ln w="15240">
            <a:solidFill>
              <a:srgbClr val="CADCFC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57200" y="3209544"/>
            <a:ext cx="1920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12700" dir="5400000">
              <a:srgbClr val="0F2044">
                <a:alpha val="6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57200" y="3209544"/>
            <a:ext cx="54864" cy="713232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26" name="Image 3" descr="/home/claude/icons/png/kidne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392424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51560" y="3264408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RENAL / UROLOGICAL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051560" y="3502152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N13.3  ·  N20.0  ·  R33  ·  N18.x  ·  N40.x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 flipH="1">
            <a:off x="2377440" y="3384157"/>
            <a:ext cx="1793954" cy="986675"/>
          </a:xfrm>
          <a:prstGeom prst="line">
            <a:avLst/>
          </a:prstGeom>
          <a:noFill/>
          <a:ln w="15240">
            <a:solidFill>
              <a:srgbClr val="CADCFC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57200" y="4014216"/>
            <a:ext cx="1920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12700" dir="5400000">
              <a:srgbClr val="0F2044">
                <a:alpha val="6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57200" y="4014216"/>
            <a:ext cx="54864" cy="713232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32" name="Image 4" descr="/home/claude/icons/png/thyroi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4197096"/>
            <a:ext cx="347472" cy="34747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051560" y="4069080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/ NECK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051560" y="4306824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E04.1  ·  E04.9  ·  R59.x</a:t>
            </a:r>
            <a:endParaRPr lang="en-US" sz="800" dirty="0"/>
          </a:p>
        </p:txBody>
      </p:sp>
      <p:sp>
        <p:nvSpPr>
          <p:cNvPr id="35" name="Shape 28"/>
          <p:cNvSpPr/>
          <p:nvPr/>
        </p:nvSpPr>
        <p:spPr>
          <a:xfrm flipH="1">
            <a:off x="4972606" y="1956816"/>
            <a:ext cx="1793954" cy="986675"/>
          </a:xfrm>
          <a:prstGeom prst="line">
            <a:avLst/>
          </a:prstGeom>
          <a:noFill/>
          <a:ln w="15240">
            <a:solidFill>
              <a:srgbClr val="CADCFC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6766560" y="1600200"/>
            <a:ext cx="1920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12700" dir="5400000">
              <a:srgbClr val="0F2044">
                <a:alpha val="6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766560" y="1600200"/>
            <a:ext cx="54864" cy="713232"/>
          </a:xfrm>
          <a:prstGeom prst="rect">
            <a:avLst/>
          </a:prstGeom>
          <a:solidFill>
            <a:srgbClr val="D4A017"/>
          </a:solidFill>
          <a:ln/>
        </p:spPr>
      </p:sp>
      <p:pic>
        <p:nvPicPr>
          <p:cNvPr id="38" name="Image 5" descr="/home/claude/icons/png/bab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1152" y="1783080"/>
            <a:ext cx="347472" cy="34747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360920" y="1655064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OBSTETRICS &amp; PREGNANCY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7360920" y="1892808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Z34.x  ·  O00.x  ·  O02.1  ·  O03.x  ·  N83.2  ·  D25.x</a:t>
            </a:r>
            <a:endParaRPr lang="en-US" sz="800" dirty="0"/>
          </a:p>
        </p:txBody>
      </p:sp>
      <p:sp>
        <p:nvSpPr>
          <p:cNvPr id="41" name="Shape 33"/>
          <p:cNvSpPr/>
          <p:nvPr/>
        </p:nvSpPr>
        <p:spPr>
          <a:xfrm flipH="1">
            <a:off x="5021705" y="2761488"/>
            <a:ext cx="1744855" cy="319890"/>
          </a:xfrm>
          <a:prstGeom prst="line">
            <a:avLst/>
          </a:prstGeom>
          <a:noFill/>
          <a:ln w="15240">
            <a:solidFill>
              <a:srgbClr val="CADCFC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6766560" y="2404872"/>
            <a:ext cx="1920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12700" dir="5400000">
              <a:srgbClr val="0F2044">
                <a:alpha val="6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6766560" y="2404872"/>
            <a:ext cx="54864" cy="713232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44" name="Image 6" descr="/home/claude/icons/png/stomach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1152" y="2587752"/>
            <a:ext cx="347472" cy="347472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7360920" y="2459736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ABDOMINAL / GI</a:t>
            </a:r>
            <a:endParaRPr lang="en-US" sz="900" dirty="0"/>
          </a:p>
        </p:txBody>
      </p:sp>
      <p:sp>
        <p:nvSpPr>
          <p:cNvPr id="46" name="Text 37"/>
          <p:cNvSpPr/>
          <p:nvPr/>
        </p:nvSpPr>
        <p:spPr>
          <a:xfrm>
            <a:off x="7360920" y="2697480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K80.x  ·  K81.0  ·  K76.0  ·  R18.x  ·  K35.x  ·  R19.0</a:t>
            </a:r>
            <a:endParaRPr lang="en-US" sz="800" dirty="0"/>
          </a:p>
        </p:txBody>
      </p:sp>
      <p:sp>
        <p:nvSpPr>
          <p:cNvPr id="47" name="Shape 38"/>
          <p:cNvSpPr/>
          <p:nvPr/>
        </p:nvSpPr>
        <p:spPr>
          <a:xfrm>
            <a:off x="5021705" y="3246270"/>
            <a:ext cx="1744855" cy="319890"/>
          </a:xfrm>
          <a:prstGeom prst="line">
            <a:avLst/>
          </a:prstGeom>
          <a:noFill/>
          <a:ln w="15240">
            <a:solidFill>
              <a:srgbClr val="CADCFC"/>
            </a:solidFill>
            <a:prstDash val="solid"/>
          </a:ln>
        </p:spPr>
      </p:sp>
      <p:sp>
        <p:nvSpPr>
          <p:cNvPr id="48" name="Shape 39"/>
          <p:cNvSpPr/>
          <p:nvPr/>
        </p:nvSpPr>
        <p:spPr>
          <a:xfrm>
            <a:off x="6766560" y="3209544"/>
            <a:ext cx="1920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12700" dir="5400000">
              <a:srgbClr val="0F2044">
                <a:alpha val="6000"/>
              </a:srgbClr>
            </a:outerShdw>
          </a:effectLst>
        </p:spPr>
      </p:sp>
      <p:sp>
        <p:nvSpPr>
          <p:cNvPr id="49" name="Shape 40"/>
          <p:cNvSpPr/>
          <p:nvPr/>
        </p:nvSpPr>
        <p:spPr>
          <a:xfrm>
            <a:off x="6766560" y="3209544"/>
            <a:ext cx="54864" cy="713232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50" name="Image 7" descr="/home/claude/icons/png/musc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1152" y="3392424"/>
            <a:ext cx="347472" cy="347472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7360920" y="3264408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MUSCULOSKELETAL</a:t>
            </a:r>
            <a:endParaRPr lang="en-US" sz="900" dirty="0"/>
          </a:p>
        </p:txBody>
      </p:sp>
      <p:sp>
        <p:nvSpPr>
          <p:cNvPr id="52" name="Text 42"/>
          <p:cNvSpPr/>
          <p:nvPr/>
        </p:nvSpPr>
        <p:spPr>
          <a:xfrm>
            <a:off x="7360920" y="3502152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L02.x  ·  L03.x  ·  M62.x  ·  M25.4  ·  T14.1</a:t>
            </a:r>
            <a:endParaRPr lang="en-US" sz="800" dirty="0"/>
          </a:p>
        </p:txBody>
      </p:sp>
      <p:sp>
        <p:nvSpPr>
          <p:cNvPr id="53" name="Shape 43"/>
          <p:cNvSpPr/>
          <p:nvPr/>
        </p:nvSpPr>
        <p:spPr>
          <a:xfrm>
            <a:off x="4972606" y="3384157"/>
            <a:ext cx="1793954" cy="986675"/>
          </a:xfrm>
          <a:prstGeom prst="line">
            <a:avLst/>
          </a:prstGeom>
          <a:noFill/>
          <a:ln w="15240">
            <a:solidFill>
              <a:srgbClr val="CADCFC"/>
            </a:solidFill>
            <a:prstDash val="solid"/>
          </a:ln>
        </p:spPr>
      </p:sp>
      <p:sp>
        <p:nvSpPr>
          <p:cNvPr id="54" name="Shape 44"/>
          <p:cNvSpPr/>
          <p:nvPr/>
        </p:nvSpPr>
        <p:spPr>
          <a:xfrm>
            <a:off x="6766560" y="4014216"/>
            <a:ext cx="1920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12700" dir="5400000">
              <a:srgbClr val="0F2044">
                <a:alpha val="6000"/>
              </a:srgbClr>
            </a:outerShdw>
          </a:effectLst>
        </p:spPr>
      </p:sp>
      <p:sp>
        <p:nvSpPr>
          <p:cNvPr id="55" name="Shape 45"/>
          <p:cNvSpPr/>
          <p:nvPr/>
        </p:nvSpPr>
        <p:spPr>
          <a:xfrm>
            <a:off x="6766560" y="4014216"/>
            <a:ext cx="54864" cy="713232"/>
          </a:xfrm>
          <a:prstGeom prst="rect">
            <a:avLst/>
          </a:prstGeom>
          <a:solidFill>
            <a:srgbClr val="D4A017"/>
          </a:solidFill>
          <a:ln/>
        </p:spPr>
      </p:sp>
      <p:pic>
        <p:nvPicPr>
          <p:cNvPr id="56" name="Image 8" descr="/home/claude/icons/png/emergenc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1152" y="4197096"/>
            <a:ext cx="347472" cy="347472"/>
          </a:xfrm>
          <a:prstGeom prst="rect">
            <a:avLst/>
          </a:prstGeom>
        </p:spPr>
      </p:pic>
      <p:sp>
        <p:nvSpPr>
          <p:cNvPr id="57" name="Text 46"/>
          <p:cNvSpPr/>
          <p:nvPr/>
        </p:nvSpPr>
        <p:spPr>
          <a:xfrm>
            <a:off x="7360920" y="4069080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/ POCUS</a:t>
            </a:r>
            <a:endParaRPr lang="en-US" sz="900" dirty="0"/>
          </a:p>
        </p:txBody>
      </p:sp>
      <p:sp>
        <p:nvSpPr>
          <p:cNvPr id="58" name="Text 47"/>
          <p:cNvSpPr/>
          <p:nvPr/>
        </p:nvSpPr>
        <p:spPr>
          <a:xfrm>
            <a:off x="7360920" y="4306824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R58  ·  E86.1  ·  R10.0  ·  A41.x</a:t>
            </a:r>
            <a:endParaRPr lang="en-US" sz="800" dirty="0"/>
          </a:p>
        </p:txBody>
      </p:sp>
      <p:sp>
        <p:nvSpPr>
          <p:cNvPr id="59" name="Text 48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Pregnancy monitoring (gold) is the trigger signal — the broader use-case footprint strengthens the practice's case for purchase and justifies the asset.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 ·  LENDING POTENTIAL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46720" y="2560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0973"/>
          </a:xfrm>
          <a:prstGeom prst="rect">
            <a:avLst/>
          </a:prstGeom>
          <a:solidFill>
            <a:srgbClr val="D9E2E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498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insight to lending value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clinical-gap leads into the bank's incremental principal book.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1874520" cy="1691640"/>
          </a:xfrm>
          <a:prstGeom prst="roundRect">
            <a:avLst>
              <a:gd name="adj" fmla="val 4324"/>
            </a:avLst>
          </a:prstGeom>
          <a:solidFill>
            <a:srgbClr val="0F2044"/>
          </a:solidFill>
          <a:ln/>
          <a:effectLst>
            <a:outerShdw sx="100000" sy="100000" kx="0" ky="0" algn="bl" rotWithShape="0" blurRad="101600" dist="25400" dir="5400000">
              <a:srgbClr val="0F2044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" y="1947672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LEADS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21792" y="2834640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practices / month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1792" y="3063240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Pre-qualified by clinical-gap pipeline: confirmed demand, scan absence, referral leakage.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 rot="1800000">
            <a:off x="2340864" y="2555748"/>
            <a:ext cx="146304" cy="146304"/>
          </a:xfrm>
          <a:prstGeom prst="rtTriangle">
            <a:avLst/>
          </a:prstGeom>
          <a:solidFill>
            <a:srgbClr val="64748B"/>
          </a:solidFill>
          <a:ln/>
        </p:spPr>
      </p:sp>
      <p:sp>
        <p:nvSpPr>
          <p:cNvPr id="13" name="Shape 11"/>
          <p:cNvSpPr/>
          <p:nvPr/>
        </p:nvSpPr>
        <p:spPr>
          <a:xfrm>
            <a:off x="2496312" y="1783080"/>
            <a:ext cx="1874520" cy="1691640"/>
          </a:xfrm>
          <a:prstGeom prst="roundRect">
            <a:avLst>
              <a:gd name="adj" fmla="val 4324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25400" dir="5400000">
              <a:srgbClr val="0F2044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60904" y="1947672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87752" y="22402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2660904" y="2834640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lead-to-loan conversion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60904" y="3063240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Pre-qualified, advisor-led conversations convert higher than reactive supplier-finance quotes.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 rot="1800000">
            <a:off x="4379976" y="2555748"/>
            <a:ext cx="146304" cy="146304"/>
          </a:xfrm>
          <a:prstGeom prst="rtTriangle">
            <a:avLst/>
          </a:prstGeom>
          <a:solidFill>
            <a:srgbClr val="64748B"/>
          </a:solidFill>
          <a:ln/>
        </p:spPr>
      </p:sp>
      <p:sp>
        <p:nvSpPr>
          <p:cNvPr id="19" name="Shape 17"/>
          <p:cNvSpPr/>
          <p:nvPr/>
        </p:nvSpPr>
        <p:spPr>
          <a:xfrm>
            <a:off x="4535424" y="1783080"/>
            <a:ext cx="1874520" cy="1691640"/>
          </a:xfrm>
          <a:prstGeom prst="roundRect">
            <a:avLst>
              <a:gd name="adj" fmla="val 4324"/>
            </a:avLst>
          </a:prstGeom>
          <a:solidFill>
            <a:srgbClr val="0F2044"/>
          </a:solidFill>
          <a:ln/>
          <a:effectLst>
            <a:outerShdw sx="100000" sy="100000" kx="0" ky="0" algn="bl" rotWithShape="0" blurRad="101600" dist="25400" dir="5400000">
              <a:srgbClr val="0F2044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00016" y="1947672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PER MONTH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26864" y="22402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4700016" y="2834640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ultrasound finance deals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00016" y="3063240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Practices funded each month under the obstetric ultrasound vertical alone.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 rot="1800000">
            <a:off x="6419088" y="2555748"/>
            <a:ext cx="146304" cy="146304"/>
          </a:xfrm>
          <a:prstGeom prst="rtTriangle">
            <a:avLst/>
          </a:prstGeom>
          <a:solidFill>
            <a:srgbClr val="64748B"/>
          </a:solidFill>
          <a:ln/>
        </p:spPr>
      </p:sp>
      <p:sp>
        <p:nvSpPr>
          <p:cNvPr id="25" name="Shape 23"/>
          <p:cNvSpPr/>
          <p:nvPr/>
        </p:nvSpPr>
        <p:spPr>
          <a:xfrm>
            <a:off x="6574536" y="1783080"/>
            <a:ext cx="1874520" cy="1691640"/>
          </a:xfrm>
          <a:prstGeom prst="roundRect">
            <a:avLst>
              <a:gd name="adj" fmla="val 4324"/>
            </a:avLst>
          </a:prstGeom>
          <a:solidFill>
            <a:srgbClr val="D4A017"/>
          </a:solidFill>
          <a:ln/>
          <a:effectLst>
            <a:outerShdw sx="100000" sy="100000" kx="0" ky="0" algn="bl" rotWithShape="0" blurRad="101600" dist="25400" dir="5400000">
              <a:srgbClr val="0F2044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739128" y="1947672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TICKET SIZE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65976" y="22402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850k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739128" y="2834640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machine financed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39128" y="3063240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Mid-tier obstetric ultrasound system. Indicative range R 650k – R 1.1m.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370332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0F2044"/>
          </a:solidFill>
          <a:ln/>
          <a:effectLst>
            <a:outerShdw sx="100000" sy="100000" kx="0" ky="0" algn="bl" rotWithShape="0" blurRad="127000" dist="25400" dir="5400000">
              <a:srgbClr val="0F2044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3703320"/>
            <a:ext cx="73152" cy="105156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38679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PRINCIPAL LENDING — MONTHLY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" y="4114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5.95m</a:t>
            </a:r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per month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685800" y="450799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loans × R 850k average ticket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0" y="3886200"/>
            <a:ext cx="10973" cy="685800"/>
          </a:xfrm>
          <a:prstGeom prst="rect">
            <a:avLst/>
          </a:prstGeom>
          <a:solidFill>
            <a:srgbClr val="CADCFC">
              <a:alpha val="5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715000" y="38679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ANNUALISED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715000" y="4114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71.4m</a:t>
            </a:r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year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5715000" y="450799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vertical · before vertical 2 expansion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and conversion assumptions illustrative. Ticket size: indicative new mid-tier obstetric ultrasound, SA dealer pricing (Ecomed / Axim, May 2026). Range R 650k – R 1.1m per Slide 4.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ClinicalGap — Ultrasound Use Cases &amp; Business Case</dc:title>
  <dc:subject>PptxGenJS Presentation</dc:subject>
  <dc:creator>PptxGenJS</dc:creator>
  <cp:lastModifiedBy>PptxGenJS</cp:lastModifiedBy>
  <cp:revision>1</cp:revision>
  <dcterms:created xsi:type="dcterms:W3CDTF">2026-05-19T18:39:59Z</dcterms:created>
  <dcterms:modified xsi:type="dcterms:W3CDTF">2026-05-19T18:39:59Z</dcterms:modified>
</cp:coreProperties>
</file>