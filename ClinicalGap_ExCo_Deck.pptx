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FINANCE — SOLUTION 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Originating Before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Does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" y="3429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clinical-gap signals in billing data to trigger equipment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conversations before practices shop the market.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Obstetric Ultrasound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Medical Practices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Solutions — Senior Specialist Presentation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COMPETITIVE GAP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3200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practice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 lender...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lenders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quoting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279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gone. Supplier finance wins.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143000"/>
            <a:ext cx="5394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143000"/>
            <a:ext cx="64008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120700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starts too late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84448" y="149047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has already decided to buy. The bank is invited to quote — not to advise. Value-add is zero.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148840"/>
            <a:ext cx="5394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2148840"/>
            <a:ext cx="64008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22128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exist before intent is formalised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84448" y="249631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data shows pregnancy volumes rising and ultrasound codes absent months before a purchase decision.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154680"/>
            <a:ext cx="5394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3154680"/>
            <a:ext cx="64008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32186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already has the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84448" y="350215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claims history, practice master, and turnover data sit in existing systems. The pipeline mines what we own.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206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of opportunity is months wide. We are entering at the last minute.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CLINICAL GAP SIGNAL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practice triggers a lead when all three signals are present simultaneously: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Pregnancy Demand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demand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bills meaningful volume of Chapter XV codes (O00–O99, Z32–Z39). Pregnancy patients are walking 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6002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600200"/>
            <a:ext cx="2651760" cy="4572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0128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Scan Capacity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10128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absence score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 sub-scale billing of obstetric ultrasound tariff codes (3621, 3622) relative to pregnancy encounters.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25896" y="16002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1600200"/>
            <a:ext cx="265176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63056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Referral Leakage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63056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lost revenue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63056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patients appear at radiology/OBGYN practices for scans within 30 days. Money is leaving the practice.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Score  =  0.3 × Demand  +  0.3 × Capacity Absence  +  0.4 × Referral Leakage    →    then filtered by practice turnover, approval rate, 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94944" y="1325880"/>
            <a:ext cx="146304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data lake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67128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1325880"/>
            <a:ext cx="1463040" cy="109728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13432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13432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+ tariff codes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39896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325880"/>
            <a:ext cx="14630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86200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· UCS · RLS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12664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13248" y="1325880"/>
            <a:ext cx="1463040" cy="109728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58968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Bankability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58968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· age · approval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85432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86016" y="1325880"/>
            <a:ext cx="146304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31736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List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31736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 + equipment tier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651760"/>
            <a:ext cx="8412480" cy="1371600"/>
          </a:xfrm>
          <a:prstGeom prst="rect">
            <a:avLst/>
          </a:prstGeom>
          <a:solidFill>
            <a:srgbClr val="E1F3F5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651760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715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LEAD 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"Practice GP011234 — Johannesburg North has 142 pregnancy encounters in the last 12 months but only 11 obstetric ultrasound claims (ratio 0.08 vs SA norm ~1.5). 68% of its pregnancy patients had ultrasounds at a radiology practice within 30 days. Recommended: mid-tier obstetric ultrasound machine. Indicative finance: R 650 000 – R 1 100 000. Sub-pipeline: new acquisition."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27432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" y="42062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vertical  —  Change the code dictionary CSV → new vertical. No SQL changes.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4160520"/>
            <a:ext cx="27432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55848" y="42062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POPIA-safe output  —  Gold layer is practice-level only. No patient data leaves the environment.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4160520"/>
            <a:ext cx="27432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36208" y="42062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Databricks  —  dbt gold layer + PySpark Pandas UDF. Runs monthly.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INTENDED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206240" cy="640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52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Originate first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managers call practices months before the market. The bank is an advisor, not a quoter. Margin is protected.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58568"/>
            <a:ext cx="4206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68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conversion 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arrive pre-qualified: confirmed clinical need, confirmed referral leakage, confirmed turnover. RM time goes further.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74136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74136"/>
            <a:ext cx="4206240" cy="6400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 to any vertical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7856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dental chairs, orthopaedic C-arms, endoscopy, or ophthalmology in one week — new dictionary rows, no pipeline changes.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143000"/>
            <a:ext cx="3977640" cy="3291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143000"/>
            <a:ext cx="39776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4920" y="17465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57216" y="1911096"/>
            <a:ext cx="0" cy="521208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ot"/>
          </a:ln>
        </p:spPr>
      </p:sp>
      <p:sp>
        <p:nvSpPr>
          <p:cNvPr id="22" name="Text 20"/>
          <p:cNvSpPr/>
          <p:nvPr/>
        </p:nvSpPr>
        <p:spPr>
          <a:xfrm>
            <a:off x="5349240" y="17282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53328" y="17282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53328" y="1965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reconciliation, dictionary load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24323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57216" y="2596896"/>
            <a:ext cx="0" cy="521208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ot"/>
          </a:ln>
        </p:spPr>
      </p:sp>
      <p:sp>
        <p:nvSpPr>
          <p:cNvPr id="27" name="Text 25"/>
          <p:cNvSpPr/>
          <p:nvPr/>
        </p:nvSpPr>
        <p:spPr>
          <a:xfrm>
            <a:off x="5349240" y="24140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53328" y="24140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53328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models, scorer, peer benchmarks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31181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57216" y="3282696"/>
            <a:ext cx="0" cy="521208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ot"/>
          </a:ln>
        </p:spPr>
      </p:sp>
      <p:sp>
        <p:nvSpPr>
          <p:cNvPr id="32" name="Text 30"/>
          <p:cNvSpPr/>
          <p:nvPr/>
        </p:nvSpPr>
        <p:spPr>
          <a:xfrm>
            <a:off x="5349240" y="30998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53328" y="3099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+ backtest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53328" y="3337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layer, lift validation, POPIA sign-off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38039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37856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53328" y="37856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+ expand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53328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job, vertical 2 (dental), SLM layer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5445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deliverables are ready — code dictionary, SQL models, Python scorer, backtest plan, POPIA note, and vertical swap runbook.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Equipment Finance — Clinical Gap Trigger</dc:title>
  <dc:subject>PptxGenJS Presentation</dc:subject>
  <dc:creator>PptxGenJS</dc:creator>
  <cp:lastModifiedBy>PptxGenJS</cp:lastModifiedBy>
  <cp:revision>1</cp:revision>
  <dcterms:created xsi:type="dcterms:W3CDTF">2026-05-13T18:11:05Z</dcterms:created>
  <dcterms:modified xsi:type="dcterms:W3CDTF">2026-05-13T18:11:05Z</dcterms:modified>
</cp:coreProperties>
</file>